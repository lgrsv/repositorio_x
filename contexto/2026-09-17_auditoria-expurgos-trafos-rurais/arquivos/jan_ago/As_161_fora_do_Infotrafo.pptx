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15243F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Queimado</c:v>
                  </c:pt>
                  <c:pt idx="1">
                    <c:v>Furto</c:v>
                  </c:pt>
                  <c:pt idx="2">
                    <c:v>Avariado</c:v>
                  </c:pt>
                  <c:pt idx="3">
                    <c:v>Ausente da Crítica</c:v>
                  </c:pt>
                  <c:pt idx="4">
                    <c:v>Abalroamento</c:v>
                  </c:pt>
                  <c:pt idx="5">
                    <c:v>Sem troca</c:v>
                  </c:pt>
                  <c:pt idx="6">
                    <c:v>Sem obra (60 dias)</c:v>
                  </c:pt>
                  <c:pt idx="7">
                    <c:v>Tape e tensão</c:v>
                  </c:pt>
                  <c:pt idx="8">
                    <c:v>Remanejamento</c:v>
                  </c:pt>
                  <c:pt idx="9">
                    <c:v>Fora da janela</c:v>
                  </c:pt>
                  <c:pt idx="10">
                    <c:v>Obra sem trafo</c:v>
                  </c:pt>
                  <c:pt idx="11">
                    <c:v>Retido sem prova</c:v>
                  </c:pt>
                  <c:pt idx="12">
                    <c:v>Outras duas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64</c:v>
                </c:pt>
                <c:pt idx="1">
                  <c:v>33</c:v>
                </c:pt>
                <c:pt idx="2">
                  <c:v>21</c:v>
                </c:pt>
                <c:pt idx="3">
                  <c:v>9</c:v>
                </c:pt>
                <c:pt idx="4">
                  <c:v>6</c:v>
                </c:pt>
                <c:pt idx="5">
                  <c:v>6</c:v>
                </c:pt>
                <c:pt idx="6">
                  <c:v>5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Queimado</c:v>
                </c:pt>
              </c:strCache>
            </c:strRef>
          </c:tx>
          <c:spPr>
            <a:solidFill>
              <a:srgbClr val="1524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</c:v>
                </c:pt>
                <c:pt idx="1">
                  <c:v>14</c:v>
                </c:pt>
                <c:pt idx="2">
                  <c:v>13</c:v>
                </c:pt>
                <c:pt idx="3">
                  <c:v>2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Avariado</c:v>
                </c:pt>
              </c:strCache>
            </c:strRef>
          </c:tx>
          <c:spPr>
            <a:solidFill>
              <a:srgbClr val="E8A3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</c:v>
                </c:pt>
                <c:pt idx="1">
                  <c:v>11</c:v>
                </c:pt>
                <c:pt idx="2">
                  <c:v>2</c:v>
                </c:pt>
                <c:pt idx="3">
                  <c:v/>
                </c:pt>
                <c:pt idx="4">
                  <c:v/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5243F"/>
                </a:solidFill>
                <a:latin typeface="Cambria"/>
              </a:defRPr>
            </a:pPr>
            <a:r>
              <a:rPr sz="1500" b="0" i="0" u="none" strike="noStrike">
                <a:solidFill>
                  <a:srgbClr val="15243F"/>
                </a:solidFill>
                <a:latin typeface="Cambria"/>
              </a:rPr>
              <a:t>Prova de troca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Prova de troca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243F"/>
              </a:solidFill>
              <a:effectLst/>
            </c:spPr>
          </c:dPt>
          <c:dPt>
            <c:idx val="1"/>
            <c:bubble3D val="0"/>
            <c:spPr>
              <a:solidFill>
                <a:srgbClr val="5B8FB9"/>
              </a:solidFill>
              <a:effectLst/>
            </c:spPr>
          </c:dPt>
          <c:dPt>
            <c:idx val="2"/>
            <c:bubble3D val="0"/>
            <c:spPr>
              <a:solidFill>
                <a:srgbClr val="B5503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Série e tombamento</c:v>
                </c:pt>
                <c:pt idx="1">
                  <c:v>Só o relato do texto</c:v>
                </c:pt>
                <c:pt idx="2">
                  <c:v>Nenhuma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21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pergunta do trabalho é uma só: das SS de substituição de transformador que não aparecem no Infotrafo, quantas são falha real do equipamento.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1.605 é o total jan–ago com tipo FORMS SUBST DE TRANSFORMADOR na aba BASE_SS_OS. Os 1.444 do Infotrafo caem todos dentro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diferença entre as duas abas é a razão de aparecerem contagens diferentes. A aba completa é a que fecha com o Infotrafo.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85 de 161. Este é o número que responde a pergunta feita. Os 76 restantes têm motivo escrito, e o próximo slide abre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Outras duas: obra sem execução 1 e trafo auxiliar de religador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Abril tem só 2 de 15 — a maior parte daquele mês é furto.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 final é a ressalva mais importante do trabalho: falta de registro não é prova de ausência de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pedido era não refazer o que já estava analisado. As 131 vieram do site com a categoria pronta.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Prova de troca por série é a mais forte: o formulário traz o número do equipamento retirado e do instalado.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pendências, em ordem de impacto no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O anexo é a planilha com as 161 linha a linha.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754880" cy="4754880"/>
          </a:xfrm>
          <a:prstGeom prst="ellipse">
            <a:avLst/>
          </a:prstGeom>
          <a:solidFill>
            <a:srgbClr val="1E3A6B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E3A6B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TRANSFORMADORES · ENERGISA TOCANTINS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161 que ficaram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do Infotrafo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57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delas são, de fato, queimadas ou avariadas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94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 a agosto de 2026 · base de SS e OS de 09/09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de substituição de transformador abertas de janeiro a agosto de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1560" y="1965960"/>
            <a:ext cx="2011680" cy="2011680"/>
          </a:xfrm>
          <a:prstGeom prst="ellipse">
            <a:avLst/>
          </a:prstGeom>
          <a:solidFill>
            <a:srgbClr val="15243F"/>
          </a:solidFill>
          <a:ln w="12700">
            <a:solidFill>
              <a:srgbClr val="1524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587752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1.605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de substituição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período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5146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26280" y="1965960"/>
            <a:ext cx="2011680" cy="201168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587752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1.444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estão no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Infotrafo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51460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8001000" y="1965960"/>
            <a:ext cx="2011680" cy="2011680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0" y="2587752"/>
            <a:ext cx="2011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161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40690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perdidas — fora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Infotrafo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5120640" cy="1508760"/>
          </a:xfrm>
          <a:prstGeom prst="roundRect">
            <a:avLst>
              <a:gd name="adj" fmla="val 4848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96112" y="4910328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1.444 estão todas dentro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5312664"/>
            <a:ext cx="4608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SS do Infotrafo cai fora do recorte de janeiro a agosto: a subtração é direta.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35040" y="470916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291072" y="4910328"/>
            <a:ext cx="4974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universo é o tipo da SS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91072" y="5312664"/>
            <a:ext cx="49743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1.605 é o total com tipo FORMS SUBST DE TRANSFORMADOR aberto no período, contado na aba BASE_SS_OS.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número foi contado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abas da planilha não contam a mesma coisa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892808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 BASE_SS_OS — 2.156 SS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95144"/>
            <a:ext cx="4837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base completa. Filtrada pelo tipo FORMS SUBST DE TRANSFORMADOR e por janeiro a agosto, dá 1.605 — e é aqui que as 1.444 do Infotrafo estão todas dentro.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19672" y="1892808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 BASE SS_OS — 1.694 SS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295144"/>
            <a:ext cx="48371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lista já filtrada, e ela não bate: deixa de fora 25 SS que estão no Infotrafo e inclui 109 que não são de substituição. Contar por ela dá outro número.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Infotrafo foi lido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57200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1.444 são os números de SS repetidos na coluna A da aba BASE_SS_OS — os mesmos que a formatação condicional de valores duplicados pinta.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tem par numa linha completa da base: nenhum órfão, nenhum número solto.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a marcação que você já usa na planilha — nada foi reinterpretado.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1E3A6B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100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18288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161 são queimadas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 avariadas de fato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do que estava perdido é falha real do equipamento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1371600" cy="137160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736592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queimados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572000" y="4434840"/>
            <a:ext cx="1371600" cy="137160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4736592"/>
            <a:ext cx="1371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4800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avariados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4800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não são falha do transformador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são as 161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SS recebe um rótulo só: o que foi, ou o motivo de não contar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7665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91640"/>
            <a:ext cx="3886200" cy="2148840"/>
          </a:xfrm>
          <a:prstGeom prst="roundRect">
            <a:avLst>
              <a:gd name="adj" fmla="val 3404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891272" y="1892808"/>
            <a:ext cx="3374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Contam no indicador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2295144"/>
            <a:ext cx="33741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Queimado e avariado somam 85. Avariado é falha do próprio equipamento sem queima de enrolamento: vazamento, tanque, bucha, falta de fase.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35240" y="4023360"/>
            <a:ext cx="3886200" cy="2240280"/>
          </a:xfrm>
          <a:prstGeom prst="roundRect">
            <a:avLst>
              <a:gd name="adj" fmla="val 3265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891272" y="4224528"/>
            <a:ext cx="3374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contam — 76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891272" y="4626864"/>
            <a:ext cx="33741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Furto e abalroamento são causa alheia ao equipamento. Remanejamento e tape são troca sem falha. Sem troca é serviço que não chegou a substituir o transformador.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estão, mês a mês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85 que contam, separadas por queimado e avariado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737360"/>
            <a:ext cx="3154680" cy="2057400"/>
          </a:xfrm>
          <a:prstGeom prst="roundRect">
            <a:avLst>
              <a:gd name="adj" fmla="val 355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622792" y="1938528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peso está no começo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22792" y="2340864"/>
            <a:ext cx="26426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Janeiro, fevereiro e março concentram 60 das 85. É onde a falta de registro no Infotrafo mais custou.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366760" y="3977640"/>
            <a:ext cx="3154680" cy="2103120"/>
          </a:xfrm>
          <a:prstGeom prst="roundRect">
            <a:avLst>
              <a:gd name="adj" fmla="val 3478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622792" y="4178808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Agosto é mês novo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22792" y="4581144"/>
            <a:ext cx="264261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das 15 SS de agosto são falha real. É a primeira leitura do mês, feita com a Crítica de agosto que chegou agora.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76 não contam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famílias, e nenhuma delas é falha do transformador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31520" cy="731520"/>
          </a:xfrm>
          <a:prstGeom prst="ellipse">
            <a:avLst/>
          </a:prstGeom>
          <a:solidFill>
            <a:srgbClr val="B5503F"/>
          </a:solidFill>
          <a:ln w="12700">
            <a:solidFill>
              <a:srgbClr val="B55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64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Causa alheia ao trafo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66420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Furto 33 · abalroamento 6 · trafo auxiliar de religador 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32888"/>
            <a:ext cx="731520" cy="731520"/>
          </a:xfrm>
          <a:prstGeom prst="ellipse">
            <a:avLst/>
          </a:prstGeom>
          <a:solidFill>
            <a:srgbClr val="5B8FB9"/>
          </a:solidFill>
          <a:ln w="12700">
            <a:solidFill>
              <a:srgbClr val="5B8FB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328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5511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registro ou documento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551176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da Crítica 9 · sem obra passados 60 dias 5 · fora da janela 3 · obra sem transformador no material 3 · obra sem execução 1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731520" cy="731520"/>
          </a:xfrm>
          <a:prstGeom prst="ellipse">
            <a:avLst/>
          </a:prstGeom>
          <a:solidFill>
            <a:srgbClr val="15243F"/>
          </a:solidFill>
          <a:ln w="12700">
            <a:solidFill>
              <a:srgbClr val="1524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198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38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Troca sem falha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3438144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e regularização de tensão 3 · remanejamento 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731520" cy="73152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30682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325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houve troca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4325112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serviço foi feito, mas o transformador não foi substituído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731520" cy="73152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1937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212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Ainda pendente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521208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Retidos por falta de prova de troca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B5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ausente da Crítica e fora da janela não provam que a falha não existiu — provam que não há registro de interrupção. São 12 casos que merecem um olhar antes de virarem expurgo.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onde vem cada leitura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site já tinha analisado foi aproveitado sem refazer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26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já analisadas no site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429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de janeiro a julho e já passaram pela esteira das cinco peneiras.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categoria veio pronta: nada foi reclassificado.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delas são queimadas ou avariadas.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15243F"/>
          </a:solidFill>
          <a:ln w="12700">
            <a:solidFill>
              <a:srgbClr val="1524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19659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9260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lidas caso a caso agora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429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e agosto, meses que o site ainda não cobre, mais dois casos da revisão do universo.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da SS, texto da OS, formulário de campo e busca na Crítica, uma a uma.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delas são queimadas ou avariadas.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+ 15 = 85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sustenta as 30 novas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da leitura e prova de que a troca aconteceu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69164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737360"/>
            <a:ext cx="5532120" cy="146304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245352" y="1938528"/>
            <a:ext cx="5020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Confiança da leitura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45352" y="2340864"/>
            <a:ext cx="5020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de confiança alta e 4 de confiança média. Nenhuma ficou em confiança baixa: em todas o texto ou o formulário fecham o caso.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989320" y="333756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45352" y="3538728"/>
            <a:ext cx="5020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 sem conferência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45352" y="3941064"/>
            <a:ext cx="5020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SS de julho foram julgadas só por texto e formulário: o arquivo bruto da Crítica de julho se perdeu e não foi reenviado.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89320" y="4846320"/>
            <a:ext cx="5532120" cy="1417320"/>
          </a:xfrm>
          <a:prstGeom prst="roundRect">
            <a:avLst>
              <a:gd name="adj" fmla="val 5161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245352" y="5047488"/>
            <a:ext cx="5020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Agosto conferido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245352" y="5449824"/>
            <a:ext cx="5020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15 de agosto casaram contra a Crítica de agosto que chegou agora, com a mesma janela de −1h e +24h que o site usa.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ainda falta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número fechar sem ressalva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938528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5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Crítica bruta de julho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40864"/>
            <a:ext cx="4837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ela, 14 SS de julho ficam sem conferência na base de interrupção. É o único mês do ano nessa situação.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19672" y="1938528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8FB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abas que discordam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340864"/>
            <a:ext cx="4837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aba filtrada BASE SS_OS deixa de fora 25 SS que estão no Infotrafo e inclui 109 que não são de substituição. Vale alinhar qual das duas é a oficial.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96112" y="4178808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12 sem registro de interrupção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581144"/>
            <a:ext cx="4837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da Crítica e fora da janela. Falta de registro não é prova de ausência de falha — são os casos com maior chance de estarem sendo perdidos.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97764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  <a:effectLst>
            <a:outerShdw sx="100000" sy="100000" kx="0" ky="0" algn="bl" rotWithShape="0" blurRad="101600" dist="25400" dir="5400000">
              <a:srgbClr val="9AA6B8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19672" y="4178808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 retidos sem prova de troca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4581144"/>
            <a:ext cx="4837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falha está registrada, mas nenhum documento comprova que o equipamento foi substituído.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aqui recalcula o indicador de janeiro a junho. É leitura ao lado do caso.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474720"/>
            <a:ext cx="4572000" cy="4572000"/>
          </a:xfrm>
          <a:prstGeom prst="ellipse">
            <a:avLst/>
          </a:prstGeom>
          <a:solidFill>
            <a:srgbClr val="1E3A6B"/>
          </a:solidFill>
          <a:ln w="12700">
            <a:solidFill>
              <a:srgbClr val="1E3A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FRASE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9326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161 SS que o Infotrafo não registrou,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são queima ou avaria de verdade.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9326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outras 76 têm motivo escrito, caso a caso: furto, abalroamento, remanejamento, troca preventiva, serviço sem substituição — ou falta de registro, que é coisa diferente de falta de falha.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623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8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completa: As_161_fora_do_Infotrafo.xlsx — uma aba por categoria, com o motivo e a evidência de cada SS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161 fora do Infotrafo</dc:title>
  <dc:subject>PptxGenJS Presentation</dc:subject>
  <dc:creator>Auditoria de transformadores — Energisa Tocantins</dc:creator>
  <cp:lastModifiedBy>Auditoria de transformadores — Energisa Tocantins</cp:lastModifiedBy>
  <cp:revision>1</cp:revision>
  <dcterms:created xsi:type="dcterms:W3CDTF">2026-09-09T15:19:11Z</dcterms:created>
  <dcterms:modified xsi:type="dcterms:W3CDTF">2026-09-09T15:19:11Z</dcterms:modified>
</cp:coreProperties>
</file>