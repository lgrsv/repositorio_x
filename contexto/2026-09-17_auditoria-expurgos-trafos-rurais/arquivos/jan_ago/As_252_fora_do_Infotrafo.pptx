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</c:v>
                </c:pt>
              </c:strCache>
            </c:strRef>
          </c:tx>
          <c:spPr>
            <a:solidFill>
              <a:srgbClr val="E8A3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Queimado</c:v>
                  </c:pt>
                  <c:pt idx="1">
                    <c:v>Avariado</c:v>
                  </c:pt>
                  <c:pt idx="2">
                    <c:v>Furto</c:v>
                  </c:pt>
                  <c:pt idx="3">
                    <c:v>Ausente da Crítica</c:v>
                  </c:pt>
                  <c:pt idx="4">
                    <c:v>Remanejamento</c:v>
                  </c:pt>
                  <c:pt idx="5">
                    <c:v>Sem troca</c:v>
                  </c:pt>
                  <c:pt idx="6">
                    <c:v>Abalroamento</c:v>
                  </c:pt>
                  <c:pt idx="7">
                    <c:v>Preventivo</c:v>
                  </c:pt>
                  <c:pt idx="8">
                    <c:v>Sem obra (60 dias)</c:v>
                  </c:pt>
                  <c:pt idx="9">
                    <c:v>Tape e tensão</c:v>
                  </c:pt>
                  <c:pt idx="10">
                    <c:v>Fora da janela</c:v>
                  </c:pt>
                  <c:pt idx="11">
                    <c:v>Retido sem prova</c:v>
                  </c:pt>
                  <c:pt idx="12">
                    <c:v>Outras sete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90</c:v>
                </c:pt>
                <c:pt idx="1">
                  <c:v>45</c:v>
                </c:pt>
                <c:pt idx="2">
                  <c:v>36</c:v>
                </c:pt>
                <c:pt idx="3">
                  <c:v>16</c:v>
                </c:pt>
                <c:pt idx="4">
                  <c:v>14</c:v>
                </c:pt>
                <c:pt idx="5">
                  <c:v>11</c:v>
                </c:pt>
                <c:pt idx="6">
                  <c:v>7</c:v>
                </c:pt>
                <c:pt idx="7">
                  <c:v>6</c:v>
                </c:pt>
                <c:pt idx="8">
                  <c:v>5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Queimado</c:v>
                </c:pt>
              </c:strCache>
            </c:strRef>
          </c:tx>
          <c:spPr>
            <a:solidFill>
              <a:srgbClr val="1524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23</c:v>
                </c:pt>
                <c:pt idx="2">
                  <c:v>16</c:v>
                </c:pt>
                <c:pt idx="3">
                  <c:v>4</c:v>
                </c:pt>
                <c:pt idx="4">
                  <c:v>6</c:v>
                </c:pt>
                <c:pt idx="5">
                  <c:v>5</c:v>
                </c:pt>
                <c:pt idx="6">
                  <c:v>5</c:v>
                </c:pt>
                <c:pt idx="7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Avariado</c:v>
                </c:pt>
              </c:strCache>
            </c:strRef>
          </c:tx>
          <c:spPr>
            <a:solidFill>
              <a:srgbClr val="E8A3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</c:v>
                </c:pt>
                <c:pt idx="1">
                  <c:v>14</c:v>
                </c:pt>
                <c:pt idx="2">
                  <c:v>6</c:v>
                </c:pt>
                <c:pt idx="3">
                  <c:v>1</c:v>
                </c:pt>
                <c:pt idx="4">
                  <c:v>2</c:v>
                </c:pt>
                <c:pt idx="5">
                  <c:v>4</c:v>
                </c:pt>
                <c:pt idx="6">
                  <c:v>5</c:v>
                </c:pt>
                <c:pt idx="7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5243F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15243F"/>
                </a:solidFill>
                <a:latin typeface="Cambria"/>
              </a:rPr>
              <a:t>Prova de troca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Prova de troca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243F"/>
              </a:solidFill>
              <a:effectLst/>
            </c:spPr>
          </c:dPt>
          <c:dPt>
            <c:idx val="1"/>
            <c:bubble3D val="0"/>
            <c:spPr>
              <a:solidFill>
                <a:srgbClr val="5B8FB9"/>
              </a:solidFill>
              <a:effectLst/>
            </c:spPr>
          </c:dPt>
          <c:dPt>
            <c:idx val="2"/>
            <c:bubble3D val="0"/>
            <c:spPr>
              <a:solidFill>
                <a:srgbClr val="B5503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Série e tombamento</c:v>
                </c:pt>
                <c:pt idx="1">
                  <c:v>Só o relato do texto</c:v>
                </c:pt>
                <c:pt idx="2">
                  <c:v>Nenhuma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38</c:v>
                </c:pt>
                <c:pt idx="1">
                  <c:v>11</c:v>
                </c:pt>
                <c:pt idx="2">
                  <c:v>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pergunta do trabalho é uma só: das SS de substituição de transformador que não aparecem no Infotrafo, quantas são falha real do equipamento.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1.671 é o total jan–ago com esquema de serviço MC - Substituição de transformador. O Infotrafo é a lista de 1.444 SS pintadas de vermelho na coluna A pela formatação condicional de valores duplicados.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existe porque a subtração direta 1.672 − 1.444 não fecha: 25 SS do Infotrafo têm outro esquema de serviço e ficam fora do recorte.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135 de 252. Este é o número que responde a pergunta feita. Os 117 restantes têm motivo escrito, e o próximo slide abre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Outras sete: divisão de circuito 3, falta de fase 2, obra sem execução 1, trafo auxiliar 1, obra sem transformador 1, sem OS e sem obra 1, avaliar com Matheus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Abril tem só 5 de 21 — a maior parte daquele mês é furto e remanejamento.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frase final é a ressalva mais importante do trabalho: falta de registro não é prova de ausência de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pedido era não refazer o que já estava analisado. As 196 vieram do site com a categoria pronta.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Prova de troca por série é a mais forte: o formulário traz o número do equipamento retirado e do instalado.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pendências, em ordem de impacto no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O anexo é a planilha com as 252 linha 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754880" cy="4754880"/>
          </a:xfrm>
          <a:prstGeom prst="ellipse">
            <a:avLst/>
          </a:prstGeom>
          <a:solidFill>
            <a:srgbClr val="1E3A6B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E3A6B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TRANSFORMADORES · ENERGISA TOCANTINS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252 que ficaram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do Infotrafo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delas são, de fato, queimadas ou avariadas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394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Janeiro a agosto de 2026 · base de SS e OS de 09/09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de substituição de transformador abertas de janeiro a agosto de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1560" y="1965960"/>
            <a:ext cx="2011680" cy="2011680"/>
          </a:xfrm>
          <a:prstGeom prst="ellipse">
            <a:avLst/>
          </a:prstGeom>
          <a:solidFill>
            <a:srgbClr val="15243F"/>
          </a:solidFill>
          <a:ln w="12700">
            <a:solidFill>
              <a:srgbClr val="1524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587752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1.671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de substituição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período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25146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26280" y="1965960"/>
            <a:ext cx="2011680" cy="2011680"/>
          </a:xfrm>
          <a:prstGeom prst="ellipse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2587752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1.419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delas estão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Infotrafo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5146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001000" y="1965960"/>
            <a:ext cx="2011680" cy="2011680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0" y="2587752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252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perdidas — fora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Infotrafo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96112" y="4910328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Infotrafo tem 1.444 SS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5312664"/>
            <a:ext cx="4608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 e cinco delas estão fora deste filtro, porque foram abertas com outro esquema de serviço. Dentro do recorte ficam 1.419.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470916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291072" y="4910328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isso a subtração direta não fecha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5312664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1.672 − 1.444 = 228 supõe que o Infotrafo cabe inteiro dentro do filtro. Descontando só o que casa de verdade, sobram 252.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25 que o filtro não pega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do Infotrafo abertas com outro esquema de serviço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- Ferragens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502920" cy="502920"/>
          </a:xfrm>
          <a:prstGeom prst="ellipse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4144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- Remanejamento de transformador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502920" cy="502920"/>
          </a:xfrm>
          <a:prstGeom prst="ellipse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09981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esquema preenchido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502920" cy="502920"/>
          </a:xfrm>
          <a:prstGeom prst="ellipse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75818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- Substituição de condutor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370832"/>
            <a:ext cx="502920" cy="502920"/>
          </a:xfrm>
          <a:prstGeom prst="ellipse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41655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- Para-raios MT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0749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- Equipamentos, Condutor MT, Condutor BT e Conexão BT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52360" y="1737360"/>
            <a:ext cx="4069080" cy="2103120"/>
          </a:xfrm>
          <a:prstGeom prst="roundRect">
            <a:avLst>
              <a:gd name="adj" fmla="val 3478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708392" y="1938528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Estão no Infotrafo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08392" y="2340864"/>
            <a:ext cx="35570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trocas registradas — só não entram no filtro de esquema MC - Substituição de transformador, que é o recorte desta análise.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52360" y="4023360"/>
            <a:ext cx="4069080" cy="2103120"/>
          </a:xfrm>
          <a:prstGeom prst="roundRect">
            <a:avLst>
              <a:gd name="adj" fmla="val 3478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708392" y="4224528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 decidir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08392" y="4626864"/>
            <a:ext cx="35570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remanejamento de transformador e as ferragens devessem entrar, o universo sobe e a diferença cai. É uma escolha de filtro, não de dado.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 das 25 são de março.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1E3A6B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100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8288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252 são queimadas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 avariadas de fato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do que estava perdido é falha real do equipamento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1371600" cy="13716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736592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queimados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0" y="4434840"/>
            <a:ext cx="1371600" cy="1371600"/>
          </a:xfrm>
          <a:prstGeom prst="ellipse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4736592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avariados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4800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não são falha do transformador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são as 252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SS recebe um rótulo só: o que foi, ou o motivo de não contar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91640"/>
            <a:ext cx="3886200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891272" y="1892808"/>
            <a:ext cx="3374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Contam no indicador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2295144"/>
            <a:ext cx="33741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Queimado e avariado somam 135. Avariado é falha do próprio equipamento sem queima de enrolamento: vazamento, tanque, bucha, falta de fase.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35240" y="4023360"/>
            <a:ext cx="3886200" cy="2240280"/>
          </a:xfrm>
          <a:prstGeom prst="roundRect">
            <a:avLst>
              <a:gd name="adj" fmla="val 3265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891272" y="4224528"/>
            <a:ext cx="3374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contam — 117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891272" y="4626864"/>
            <a:ext cx="3374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Furto e abalroamento são causa alheia ao equipamento. Remanejamento, preventivo e tape são troca sem falha. Sem troca é serviço que não chegou a substituir o transformador.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estão, mês a mês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135 que contam, separadas por queimado e avariado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737360"/>
            <a:ext cx="3154680" cy="2057400"/>
          </a:xfrm>
          <a:prstGeom prst="roundRect">
            <a:avLst>
              <a:gd name="adj" fmla="val 355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22792" y="1938528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peso está no começo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22792" y="2340864"/>
            <a:ext cx="2642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Janeiro, fevereiro e março concentram 86 das 135. É onde a falta de registro no Infotrafo mais custou.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66760" y="397764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622792" y="4178808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Agosto é mês novo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22792" y="4581144"/>
            <a:ext cx="26426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das 33 SS de agosto são falha real. É a primeira leitura do mês, feita com a Crítica de agosto que chegou agora.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117 não contam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famílias, e nenhuma delas é falha do transformador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31520" cy="731520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64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 alheia ao trafo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66420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Furto 36 · abalroamento 7 · divisão de circuito 3 · trafo auxiliar de religador 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731520" cy="731520"/>
          </a:xfrm>
          <a:prstGeom prst="ellipse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32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5511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de registro ou documento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551176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da Crítica 16 · sem obra passados 60 dias 5 · fora da janela 4 · obra sem execução, obra sem transformador e sem OS 1 cada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731520" cy="731520"/>
          </a:xfrm>
          <a:prstGeom prst="ellipse">
            <a:avLst/>
          </a:prstGeom>
          <a:solidFill>
            <a:srgbClr val="15243F"/>
          </a:solidFill>
          <a:ln w="12700">
            <a:solidFill>
              <a:srgbClr val="1524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198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38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Troca sem falha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438144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Remanejamento 14 · preventivo 6 · tape e tensão 4 · falta de fase 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731520" cy="73152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3068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325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houve troca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4325112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serviço foi feito, mas o transformador não foi substituído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93792"/>
            <a:ext cx="731520" cy="73152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1937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212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Ainda pendente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521208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retidos por falta de prova de troca e um marcado para avaliar com o Matheus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ausente da Crítica e fora da janela não provam que a falha não existiu — provam que não há registro de interrupção. São 20 casos que merecem um olhar antes de virarem expurgo.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cada leitura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site já tinha analisado foi aproveitado sem refazer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26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analisadas no site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429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de janeiro a julho e já passaram pela esteira das cinco peneiras.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categoria veio pronta: nada foi reclassificado.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delas são queimadas ou avariadas.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15243F"/>
          </a:solidFill>
          <a:ln w="12700">
            <a:solidFill>
              <a:srgbClr val="1524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965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926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lidas caso a caso agora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429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 julho e 33 de agosto — meses que o site ainda não cobre.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da SS, texto da OS, formulário de campo e busca na Crítica, uma a uma.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delas são queimadas ou avariadas.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 + 27 = 135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sustenta as 56 novas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da leitura e prova de que a troca aconteceu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9164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737360"/>
            <a:ext cx="5532120" cy="146304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45352" y="1938528"/>
            <a:ext cx="5020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Confiança da leitura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45352" y="2340864"/>
            <a:ext cx="5020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de confiança alta, 13 média e 4 baixa. As de confiança baixa estão nomeadas na planilha e merecem foto ou confirmação da equipe antes de virarem número.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89320" y="333756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245352" y="3538728"/>
            <a:ext cx="5020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 sem conferência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45352" y="3941064"/>
            <a:ext cx="5020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23 SS de julho foram julgadas só por texto e formulário: o arquivo bruto da Crítica de julho se perdeu e não foi reenviado.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89320" y="484632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45352" y="5047488"/>
            <a:ext cx="5020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Agosto conferido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245352" y="5449824"/>
            <a:ext cx="5020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33 de agosto casaram contra a Crítica de agosto que chegou agora: 21 casaram no próprio trafo, 7 ficaram fora da janela e 5 estão ausentes.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falta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número fechar sem ressalva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938528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Crítica bruta de julho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40864"/>
            <a:ext cx="4837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ela, 23 SS de julho ficam sem conferência na base de interrupção. É o único mês do ano nessa situação.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19672" y="1938528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25 do Infotrafo com outro esquema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340864"/>
            <a:ext cx="4837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Ferragens, remanejamento de transformador, para-raios. Vale decidir se algum desses esquemas deveria entrar no recorte.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96112" y="4178808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sem registro de interrupção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581144"/>
            <a:ext cx="4837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da Crítica e fora da janela. Falta de registro não é prova de ausência de falha — são os casos com maior chance de estarem sendo perdidos.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19672" y="4178808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de confiança baixa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4581144"/>
            <a:ext cx="4837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Nomeados na planilha. Texto que não fecha: precisam de foto, laudo ou palavra da equipe.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aqui recalcula o indicador de janeiro a junho. É leitura ao lado do caso.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474720"/>
            <a:ext cx="4572000" cy="4572000"/>
          </a:xfrm>
          <a:prstGeom prst="ellipse">
            <a:avLst/>
          </a:prstGeom>
          <a:solidFill>
            <a:srgbClr val="1E3A6B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9326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252 SS que o Infotrafo não registrou,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 são queima ou avaria de verdade.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outras 117 têm motivo escrito, caso a caso: furto, abalroamento, remanejamento, troca preventiva, serviço sem substituição — ou falta de registro, que é coisa diferente de falta de falha.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23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completa: As_252_fora_do_Infotrafo.xlsx — uma aba por categoria, com o motivo e a evidência de cada SS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252 fora do Infotrafo</dc:title>
  <dc:subject>PptxGenJS Presentation</dc:subject>
  <dc:creator>Auditoria de transformadores — Energisa Tocantins</dc:creator>
  <cp:lastModifiedBy>Auditoria de transformadores — Energisa Tocantins</cp:lastModifiedBy>
  <cp:revision>1</cp:revision>
  <dcterms:created xsi:type="dcterms:W3CDTF">2026-09-09T15:26:45Z</dcterms:created>
  <dcterms:modified xsi:type="dcterms:W3CDTF">2026-09-09T15:26:45Z</dcterms:modified>
</cp:coreProperties>
</file>