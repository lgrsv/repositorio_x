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147481926" r:id="rId6"/>
    <p:sldId id="2147481927" r:id="rId7"/>
    <p:sldId id="2147481932" r:id="rId8"/>
    <p:sldId id="2147481928" r:id="rId9"/>
    <p:sldId id="2147481929" r:id="rId10"/>
    <p:sldId id="2147481930" r:id="rId11"/>
    <p:sldId id="2147481931" r:id="rId12"/>
    <p:sldId id="259" r:id="rId13"/>
    <p:sldId id="26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457"/>
    <a:srgbClr val="595959"/>
    <a:srgbClr val="1F1F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66" y="-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Antonio Lagares Milhomem de Souza" userId="398807df-e4d5-412e-a012-70e82e4b539b" providerId="ADAL" clId="{6ECF039B-B906-4263-B2F7-F56050D2D6AC}"/>
    <pc:docChg chg="undo custSel addSld delSld modSld">
      <pc:chgData name="Joao Antonio Lagares Milhomem de Souza" userId="398807df-e4d5-412e-a012-70e82e4b539b" providerId="ADAL" clId="{6ECF039B-B906-4263-B2F7-F56050D2D6AC}" dt="2026-08-28T19:01:44.627" v="105" actId="14734"/>
      <pc:docMkLst>
        <pc:docMk/>
      </pc:docMkLst>
      <pc:sldChg chg="addSp delSp modSp add del mod">
        <pc:chgData name="Joao Antonio Lagares Milhomem de Souza" userId="398807df-e4d5-412e-a012-70e82e4b539b" providerId="ADAL" clId="{6ECF039B-B906-4263-B2F7-F56050D2D6AC}" dt="2026-08-28T19:01:44.627" v="105" actId="14734"/>
        <pc:sldMkLst>
          <pc:docMk/>
          <pc:sldMk cId="1480894546" sldId="2147481927"/>
        </pc:sldMkLst>
        <pc:graphicFrameChg chg="mod modGraphic">
          <ac:chgData name="Joao Antonio Lagares Milhomem de Souza" userId="398807df-e4d5-412e-a012-70e82e4b539b" providerId="ADAL" clId="{6ECF039B-B906-4263-B2F7-F56050D2D6AC}" dt="2026-08-28T19:01:44.627" v="105" actId="14734"/>
          <ac:graphicFrameMkLst>
            <pc:docMk/>
            <pc:sldMk cId="1480894546" sldId="2147481927"/>
            <ac:graphicFrameMk id="14" creationId="{FA3B26E0-6386-615E-CA0D-7C26903D79D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6F95D-1B37-4564-B02E-1E1A90E0F05B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C3283-369E-4BD7-9A73-90108A66F3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25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D6F580-6645-856E-AD24-E4AD58796C23}"/>
              </a:ext>
            </a:extLst>
          </p:cNvPr>
          <p:cNvSpPr/>
          <p:nvPr/>
        </p:nvSpPr>
        <p:spPr>
          <a:xfrm>
            <a:off x="5976257" y="4844143"/>
            <a:ext cx="6030686" cy="1577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430DA3A-252C-876B-34B5-07E02EF8926A}"/>
              </a:ext>
            </a:extLst>
          </p:cNvPr>
          <p:cNvSpPr/>
          <p:nvPr/>
        </p:nvSpPr>
        <p:spPr>
          <a:xfrm>
            <a:off x="11071452" y="6497819"/>
            <a:ext cx="1038225" cy="276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rgbClr val="244457"/>
                </a:solidFill>
                <a:latin typeface="Trebuchet MS"/>
              </a:rPr>
              <a:t>10/07/2026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22099A-A4B0-750C-C792-84F1DD37CAE3}"/>
              </a:ext>
            </a:extLst>
          </p:cNvPr>
          <p:cNvSpPr/>
          <p:nvPr/>
        </p:nvSpPr>
        <p:spPr>
          <a:xfrm>
            <a:off x="6956652" y="3596271"/>
            <a:ext cx="5153025" cy="29033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000" i="1" dirty="0">
                <a:solidFill>
                  <a:srgbClr val="244457"/>
                </a:solidFill>
                <a:latin typeface="Trebuchet MS"/>
              </a:rPr>
              <a:t>Squad</a:t>
            </a:r>
          </a:p>
          <a:p>
            <a:pPr algn="ctr"/>
            <a:r>
              <a:rPr lang="pt-BR" sz="6000" dirty="0">
                <a:solidFill>
                  <a:srgbClr val="244457"/>
                </a:solidFill>
                <a:latin typeface="Trebuchet MS"/>
              </a:rPr>
              <a:t>Equipamentos Especiais</a:t>
            </a:r>
          </a:p>
        </p:txBody>
      </p:sp>
    </p:spTree>
    <p:extLst>
      <p:ext uri="{BB962C8B-B14F-4D97-AF65-F5344CB8AC3E}">
        <p14:creationId xmlns:p14="http://schemas.microsoft.com/office/powerpoint/2010/main" val="3303297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2ABB-1C38-9E5D-2A7B-B0D5DCB6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BDD432C-F5DF-84E5-C478-252A398F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Gestão de Equipamentos </a:t>
            </a:r>
            <a:br>
              <a:rPr lang="pt-BR" dirty="0"/>
            </a:br>
            <a:r>
              <a:rPr lang="pt-BR" sz="2000" dirty="0"/>
              <a:t>Frente</a:t>
            </a:r>
            <a:endParaRPr lang="pt-BR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19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D0CD-D4A4-8071-112F-3969DDAB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974043D-5F80-9A17-7A9B-C9A53895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>
            <a:normAutofit fontScale="90000"/>
          </a:bodyPr>
          <a:lstStyle/>
          <a:p>
            <a:r>
              <a:rPr lang="pt-BR" dirty="0"/>
              <a:t>Manutenção</a:t>
            </a:r>
            <a:br>
              <a:rPr lang="pt-BR" dirty="0"/>
            </a:br>
            <a:r>
              <a:rPr lang="pt-BR" sz="2000" dirty="0"/>
              <a:t>Frente</a:t>
            </a:r>
            <a:r>
              <a:rPr lang="pt-BR" sz="2000"/>
              <a:t> – Orçamento</a:t>
            </a:r>
            <a:endParaRPr lang="pt-BR" b="1" dirty="0">
              <a:latin typeface="DM Sans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9851308-FD21-EAC8-C2AA-069B39AD829B}"/>
              </a:ext>
            </a:extLst>
          </p:cNvPr>
          <p:cNvSpPr/>
          <p:nvPr/>
        </p:nvSpPr>
        <p:spPr>
          <a:xfrm>
            <a:off x="595884" y="1088136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507DE9-662F-F5C3-DEB9-74A510A73E3F}"/>
              </a:ext>
            </a:extLst>
          </p:cNvPr>
          <p:cNvSpPr/>
          <p:nvPr/>
        </p:nvSpPr>
        <p:spPr>
          <a:xfrm>
            <a:off x="870204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DCMD</a:t>
            </a:r>
            <a:endParaRPr lang="en-US" sz="1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C8F38D-4D6B-1D04-2D75-629C4A18D5D0}"/>
              </a:ext>
            </a:extLst>
          </p:cNvPr>
          <p:cNvSpPr/>
          <p:nvPr/>
        </p:nvSpPr>
        <p:spPr>
          <a:xfrm>
            <a:off x="870204" y="143560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</a:t>
            </a:r>
            <a:endParaRPr lang="en-US" sz="11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BE963F-22DF-395E-61FE-6C698F29AA8E}"/>
              </a:ext>
            </a:extLst>
          </p:cNvPr>
          <p:cNvSpPr/>
          <p:nvPr/>
        </p:nvSpPr>
        <p:spPr>
          <a:xfrm>
            <a:off x="870204" y="1645920"/>
            <a:ext cx="3422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un.   </a:t>
            </a: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R$ 2.603.956,04</a:t>
            </a:r>
            <a:endParaRPr lang="en-US" sz="13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2EF4E4E-9B6B-641E-B02E-8AFD48F0F62C}"/>
              </a:ext>
            </a:extLst>
          </p:cNvPr>
          <p:cNvSpPr/>
          <p:nvPr/>
        </p:nvSpPr>
        <p:spPr>
          <a:xfrm>
            <a:off x="4384548" y="143560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endParaRPr lang="en-US" sz="115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6163364-0F02-03DA-8230-A87BE4A531D5}"/>
              </a:ext>
            </a:extLst>
          </p:cNvPr>
          <p:cNvSpPr/>
          <p:nvPr/>
        </p:nvSpPr>
        <p:spPr>
          <a:xfrm>
            <a:off x="4384548" y="1645920"/>
            <a:ext cx="3422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un.   </a:t>
            </a: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R$ 3.077.961,65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B1377CD-75AD-4132-DA21-69B25C4DC4CC}"/>
              </a:ext>
            </a:extLst>
          </p:cNvPr>
          <p:cNvSpPr/>
          <p:nvPr/>
        </p:nvSpPr>
        <p:spPr>
          <a:xfrm>
            <a:off x="7898892" y="143560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794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Geral</a:t>
            </a:r>
            <a:endParaRPr lang="en-US" sz="11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8AAF9F9-B50D-B876-A81D-104245736E6F}"/>
              </a:ext>
            </a:extLst>
          </p:cNvPr>
          <p:cNvSpPr/>
          <p:nvPr/>
        </p:nvSpPr>
        <p:spPr>
          <a:xfrm>
            <a:off x="7898892" y="1645920"/>
            <a:ext cx="3422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un.   </a:t>
            </a: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R$ 5.681.917,69</a:t>
            </a:r>
            <a:endParaRPr lang="en-US" sz="130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FA3B26E0-6386-615E-CA0D-7C26903D7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44742"/>
              </p:ext>
            </p:extLst>
          </p:nvPr>
        </p:nvGraphicFramePr>
        <p:xfrm>
          <a:off x="2535936" y="2115274"/>
          <a:ext cx="6593369" cy="2510028"/>
        </p:xfrm>
        <a:graphic>
          <a:graphicData uri="http://schemas.openxmlformats.org/drawingml/2006/table">
            <a:tbl>
              <a:tblPr/>
              <a:tblGrid>
                <a:gridCol w="1335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PREVISTO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DMSL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R$ 437.740,83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análise compra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R$ 1.457.985,81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r>
                        <a:rPr lang="en-US" sz="1050" dirty="0" err="1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R$ 708.229,36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Total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R$ 2.603.956,04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análise compra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R$ 1.676.923,29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</a:t>
                      </a:r>
                      <a:r>
                        <a:rPr lang="en-US" sz="1050" dirty="0" err="1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R$ 1.401.038,36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256"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Total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Em </a:t>
                      </a:r>
                      <a:r>
                        <a:rPr lang="en-US" sz="105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R$ 3.077.961,65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31105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Geral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R$ 5.681.917,69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 19">
            <a:extLst>
              <a:ext uri="{FF2B5EF4-FFF2-40B4-BE49-F238E27FC236}">
                <a16:creationId xmlns:a16="http://schemas.microsoft.com/office/drawing/2014/main" id="{667A38B2-F0F9-BA40-8A5A-784B56FCBC06}"/>
              </a:ext>
            </a:extLst>
          </p:cNvPr>
          <p:cNvSpPr/>
          <p:nvPr/>
        </p:nvSpPr>
        <p:spPr>
          <a:xfrm>
            <a:off x="595882" y="4514012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ACUMULADA POR ETAPA (RL / RT)</a:t>
            </a:r>
            <a:endParaRPr lang="en-US" sz="1000" dirty="0"/>
          </a:p>
        </p:txBody>
      </p:sp>
      <p:graphicFrame>
        <p:nvGraphicFramePr>
          <p:cNvPr id="16" name="Table 1">
            <a:extLst>
              <a:ext uri="{FF2B5EF4-FFF2-40B4-BE49-F238E27FC236}">
                <a16:creationId xmlns:a16="http://schemas.microsoft.com/office/drawing/2014/main" id="{50C8C227-3E8F-D954-BAD9-0EC150B8A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069421"/>
              </p:ext>
            </p:extLst>
          </p:nvPr>
        </p:nvGraphicFramePr>
        <p:xfrm>
          <a:off x="2040958" y="4873638"/>
          <a:ext cx="8201519" cy="1011352"/>
        </p:xfrm>
        <a:graphic>
          <a:graphicData uri="http://schemas.openxmlformats.org/drawingml/2006/table">
            <a:tbl>
              <a:tblPr/>
              <a:tblGrid>
                <a:gridCol w="119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0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1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8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Execução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DMSL+DEOP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R$ 419.035,00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R$ 708.229,36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R$ 1.457.985,81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R$ 1.215.179,49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R$ 498.815,00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R$ 1.401.038,36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R$ 1.676.923,29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R$ 773.240,40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8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(acumulada)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R$ 917.850,00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R$ 3.027.117,72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R$ 6.162.026,82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R$ 8.150.446,71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89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2DE906-9F15-B568-5A9B-BDC91D40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9B3088DA-D2F3-0259-1E27-7DBA419D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Manutenção</a:t>
            </a:r>
            <a:br>
              <a:rPr lang="pt-BR" dirty="0"/>
            </a:br>
            <a:r>
              <a:rPr lang="pt-BR" sz="2000" dirty="0"/>
              <a:t>Frente - Orçamento</a:t>
            </a:r>
            <a:endParaRPr lang="pt-BR" b="1" dirty="0">
              <a:latin typeface="DM Sans" pitchFamily="2" charset="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C9610BB-CA5F-375A-38AB-DFD4E0B6082E}"/>
              </a:ext>
            </a:extLst>
          </p:cNvPr>
          <p:cNvSpPr/>
          <p:nvPr/>
        </p:nvSpPr>
        <p:spPr>
          <a:xfrm>
            <a:off x="730560" y="1101852"/>
            <a:ext cx="5385816" cy="2423160"/>
          </a:xfrm>
          <a:prstGeom prst="roundRect">
            <a:avLst>
              <a:gd name="adj" fmla="val 26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80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B8D70B6-0C90-805F-1A92-0C2EEFF86DA0}"/>
              </a:ext>
            </a:extLst>
          </p:cNvPr>
          <p:cNvSpPr/>
          <p:nvPr/>
        </p:nvSpPr>
        <p:spPr>
          <a:xfrm>
            <a:off x="959160" y="1229868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GERAL DCMD</a:t>
            </a:r>
            <a:endParaRPr lang="en-US" sz="120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94B3A8B-6FB5-A827-7192-241B5C79520B}"/>
              </a:ext>
            </a:extLst>
          </p:cNvPr>
          <p:cNvSpPr/>
          <p:nvPr/>
        </p:nvSpPr>
        <p:spPr>
          <a:xfrm>
            <a:off x="959160" y="146761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ativos</a:t>
            </a:r>
            <a:endParaRPr lang="en-US" sz="12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B694051-9305-AAAE-4CCC-2036C1F9691D}"/>
              </a:ext>
            </a:extLst>
          </p:cNvPr>
          <p:cNvSpPr/>
          <p:nvPr/>
        </p:nvSpPr>
        <p:spPr>
          <a:xfrm>
            <a:off x="959160" y="1723644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4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EAA6D29-4584-660D-EB8D-5EC6509AC9C1}"/>
              </a:ext>
            </a:extLst>
          </p:cNvPr>
          <p:cNvSpPr/>
          <p:nvPr/>
        </p:nvSpPr>
        <p:spPr>
          <a:xfrm>
            <a:off x="2437745" y="1723644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R$ 2.603.956,04</a:t>
            </a:r>
            <a:endParaRPr lang="en-US" sz="160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617C4F1-334A-7841-32DA-3A5E4AF1DCB7}"/>
              </a:ext>
            </a:extLst>
          </p:cNvPr>
          <p:cNvSpPr/>
          <p:nvPr/>
        </p:nvSpPr>
        <p:spPr>
          <a:xfrm>
            <a:off x="959160" y="2034540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2FD2A32-ADC2-311E-0854-6E2DFE9C8A33}"/>
              </a:ext>
            </a:extLst>
          </p:cNvPr>
          <p:cNvSpPr/>
          <p:nvPr/>
        </p:nvSpPr>
        <p:spPr>
          <a:xfrm>
            <a:off x="2437745" y="2034540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R$ 3.077.961,65</a:t>
            </a:r>
            <a:endParaRPr lang="en-US" sz="160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CABB8253-C441-BA64-C582-617BA0FFF207}"/>
              </a:ext>
            </a:extLst>
          </p:cNvPr>
          <p:cNvSpPr/>
          <p:nvPr/>
        </p:nvSpPr>
        <p:spPr>
          <a:xfrm>
            <a:off x="959160" y="2930652"/>
            <a:ext cx="4928616" cy="4572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 w="12700">
            <a:solidFill>
              <a:srgbClr val="2054C7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36F9A682-E7C7-BAC9-88B0-4EFC187A89CA}"/>
              </a:ext>
            </a:extLst>
          </p:cNvPr>
          <p:cNvSpPr/>
          <p:nvPr/>
        </p:nvSpPr>
        <p:spPr>
          <a:xfrm>
            <a:off x="959160" y="2930652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R$ 5.681.917,69</a:t>
            </a:r>
            <a:endParaRPr lang="en-US" sz="14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C96166D4-3116-8CA7-0232-663B29AC7774}"/>
              </a:ext>
            </a:extLst>
          </p:cNvPr>
          <p:cNvSpPr/>
          <p:nvPr/>
        </p:nvSpPr>
        <p:spPr>
          <a:xfrm>
            <a:off x="6436416" y="1101852"/>
            <a:ext cx="5385816" cy="2423160"/>
          </a:xfrm>
          <a:prstGeom prst="roundRect">
            <a:avLst>
              <a:gd name="adj" fmla="val 26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80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787885B-1F60-4227-35EA-928111CFA31A}"/>
              </a:ext>
            </a:extLst>
          </p:cNvPr>
          <p:cNvSpPr/>
          <p:nvPr/>
        </p:nvSpPr>
        <p:spPr>
          <a:xfrm>
            <a:off x="6665016" y="1229868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OUTRAS ÁREAS (DMSL/DEOP)</a:t>
            </a:r>
            <a:endParaRPr lang="en-US" sz="12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B885C9B-2D22-671C-59C6-941F7749B05A}"/>
              </a:ext>
            </a:extLst>
          </p:cNvPr>
          <p:cNvSpPr/>
          <p:nvPr/>
        </p:nvSpPr>
        <p:spPr>
          <a:xfrm>
            <a:off x="6665016" y="146761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ativos</a:t>
            </a:r>
            <a:endParaRPr lang="en-US" sz="120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B7A5E15E-025E-75CB-B56D-AC204FC989C4}"/>
              </a:ext>
            </a:extLst>
          </p:cNvPr>
          <p:cNvSpPr/>
          <p:nvPr/>
        </p:nvSpPr>
        <p:spPr>
          <a:xfrm>
            <a:off x="6665016" y="1723644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40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3B530E86-87F8-45D8-C7D7-9B8BCB5B4476}"/>
              </a:ext>
            </a:extLst>
          </p:cNvPr>
          <p:cNvSpPr/>
          <p:nvPr/>
        </p:nvSpPr>
        <p:spPr>
          <a:xfrm>
            <a:off x="8143601" y="1723644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R$ 1.215.179,49</a:t>
            </a:r>
            <a:endParaRPr lang="en-US" sz="160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9E9B583A-1CB8-A809-7845-BAF32F04BC5D}"/>
              </a:ext>
            </a:extLst>
          </p:cNvPr>
          <p:cNvSpPr/>
          <p:nvPr/>
        </p:nvSpPr>
        <p:spPr>
          <a:xfrm>
            <a:off x="6665016" y="2034540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147B8A95-9023-902D-460C-4F16D39CEBD1}"/>
              </a:ext>
            </a:extLst>
          </p:cNvPr>
          <p:cNvSpPr/>
          <p:nvPr/>
        </p:nvSpPr>
        <p:spPr>
          <a:xfrm>
            <a:off x="8143601" y="2034540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R$ 773.240,40</a:t>
            </a:r>
            <a:endParaRPr lang="en-US" sz="160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9D0E2DF8-A73B-6F7E-3F32-9B99666D2E9D}"/>
              </a:ext>
            </a:extLst>
          </p:cNvPr>
          <p:cNvSpPr/>
          <p:nvPr/>
        </p:nvSpPr>
        <p:spPr>
          <a:xfrm>
            <a:off x="6665016" y="23637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</a:t>
            </a:r>
            <a:r>
              <a:rPr lang="en-US" sz="1100" i="1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i="1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RT: R$154.648,08 e RT: R$57.865,69  </a:t>
            </a:r>
            <a:endParaRPr lang="en-US" sz="110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7B2A723C-6939-4018-9195-109EF7616D95}"/>
              </a:ext>
            </a:extLst>
          </p:cNvPr>
          <p:cNvSpPr/>
          <p:nvPr/>
        </p:nvSpPr>
        <p:spPr>
          <a:xfrm>
            <a:off x="6665016" y="2930652"/>
            <a:ext cx="4928616" cy="457200"/>
          </a:xfrm>
          <a:prstGeom prst="roundRect">
            <a:avLst>
              <a:gd name="adj" fmla="val 12000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2054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F1C47F9C-AEE3-0B65-B3FE-B47D3A76AF8D}"/>
              </a:ext>
            </a:extLst>
          </p:cNvPr>
          <p:cNvSpPr/>
          <p:nvPr/>
        </p:nvSpPr>
        <p:spPr>
          <a:xfrm>
            <a:off x="6665016" y="2930652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R$ 1.988.419,89</a:t>
            </a:r>
            <a:endParaRPr lang="en-US" sz="1400" dirty="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3E25E902-301A-48DF-9D09-E916278383FD}"/>
              </a:ext>
            </a:extLst>
          </p:cNvPr>
          <p:cNvSpPr/>
          <p:nvPr/>
        </p:nvSpPr>
        <p:spPr>
          <a:xfrm>
            <a:off x="710184" y="3611880"/>
            <a:ext cx="5385816" cy="2423160"/>
          </a:xfrm>
          <a:prstGeom prst="roundRect">
            <a:avLst>
              <a:gd name="adj" fmla="val 26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0BCD299E-5EC9-C684-52D1-F3B3FA18F3D2}"/>
              </a:ext>
            </a:extLst>
          </p:cNvPr>
          <p:cNvSpPr/>
          <p:nvPr/>
        </p:nvSpPr>
        <p:spPr>
          <a:xfrm>
            <a:off x="938784" y="3739896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REALIZADO</a:t>
            </a:r>
            <a:endParaRPr lang="en-US" sz="120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392B012A-E5E4-E85C-6B62-9995D1783541}"/>
              </a:ext>
            </a:extLst>
          </p:cNvPr>
          <p:cNvSpPr/>
          <p:nvPr/>
        </p:nvSpPr>
        <p:spPr>
          <a:xfrm>
            <a:off x="938784" y="3977640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unidades · 15,14% do orçamento disponível</a:t>
            </a:r>
            <a:endParaRPr lang="en-US" sz="120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F2BA97B2-BE0C-CC80-6568-A181D76AAFC1}"/>
              </a:ext>
            </a:extLst>
          </p:cNvPr>
          <p:cNvSpPr/>
          <p:nvPr/>
        </p:nvSpPr>
        <p:spPr>
          <a:xfrm>
            <a:off x="938784" y="4233672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40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D345FE5B-0EB0-12D8-D0B7-BE178760BBAB}"/>
              </a:ext>
            </a:extLst>
          </p:cNvPr>
          <p:cNvSpPr/>
          <p:nvPr/>
        </p:nvSpPr>
        <p:spPr>
          <a:xfrm>
            <a:off x="2417369" y="4233672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R$ 419.035,00</a:t>
            </a:r>
            <a:endParaRPr lang="en-US" sz="160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5B7A48E4-BACC-B615-8A78-61BD6EB2CB18}"/>
              </a:ext>
            </a:extLst>
          </p:cNvPr>
          <p:cNvSpPr/>
          <p:nvPr/>
        </p:nvSpPr>
        <p:spPr>
          <a:xfrm>
            <a:off x="938784" y="4544568"/>
            <a:ext cx="13800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8FAB97B6-5223-A830-5216-C95416185945}"/>
              </a:ext>
            </a:extLst>
          </p:cNvPr>
          <p:cNvSpPr/>
          <p:nvPr/>
        </p:nvSpPr>
        <p:spPr>
          <a:xfrm>
            <a:off x="2417369" y="4544568"/>
            <a:ext cx="3450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un.   </a:t>
            </a: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R$ 498.815,00</a:t>
            </a:r>
            <a:endParaRPr lang="en-US" sz="1600"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1D30D949-F2AF-0B0B-9112-2DE80F54B89E}"/>
              </a:ext>
            </a:extLst>
          </p:cNvPr>
          <p:cNvSpPr/>
          <p:nvPr/>
        </p:nvSpPr>
        <p:spPr>
          <a:xfrm>
            <a:off x="938784" y="5440680"/>
            <a:ext cx="4928616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75000"/>
            </a:schemeClr>
          </a:solidFill>
          <a:ln w="12700">
            <a:solidFill>
              <a:srgbClr val="2054C7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23FB5694-E8F8-DE8A-44EE-A26EEB9BCBF0}"/>
              </a:ext>
            </a:extLst>
          </p:cNvPr>
          <p:cNvSpPr/>
          <p:nvPr/>
        </p:nvSpPr>
        <p:spPr>
          <a:xfrm>
            <a:off x="938784" y="5440680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R$ 917.850,00</a:t>
            </a:r>
            <a:endParaRPr lang="en-US" sz="1400"/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B21223D1-AEE7-54E2-31FE-87F08CFBFBF7}"/>
              </a:ext>
            </a:extLst>
          </p:cNvPr>
          <p:cNvSpPr/>
          <p:nvPr/>
        </p:nvSpPr>
        <p:spPr>
          <a:xfrm>
            <a:off x="6429340" y="3629940"/>
            <a:ext cx="5385816" cy="2423160"/>
          </a:xfrm>
          <a:prstGeom prst="roundRect">
            <a:avLst>
              <a:gd name="adj" fmla="val 264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21B3EB5C-549B-3181-9025-67CE6B51F9E1}"/>
              </a:ext>
            </a:extLst>
          </p:cNvPr>
          <p:cNvSpPr/>
          <p:nvPr/>
        </p:nvSpPr>
        <p:spPr>
          <a:xfrm>
            <a:off x="6644640" y="3739896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2026</a:t>
            </a:r>
            <a:endParaRPr lang="en-US" sz="1200"/>
          </a:p>
        </p:txBody>
      </p:sp>
      <p:graphicFrame>
        <p:nvGraphicFramePr>
          <p:cNvPr id="44" name="Table 0">
            <a:extLst>
              <a:ext uri="{FF2B5EF4-FFF2-40B4-BE49-F238E27FC236}">
                <a16:creationId xmlns:a16="http://schemas.microsoft.com/office/drawing/2014/main" id="{906C2BBE-A946-A760-283E-D4A12864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33898"/>
              </p:ext>
            </p:extLst>
          </p:nvPr>
        </p:nvGraphicFramePr>
        <p:xfrm>
          <a:off x="6644640" y="4233672"/>
          <a:ext cx="4928615" cy="754380"/>
        </p:xfrm>
        <a:graphic>
          <a:graphicData uri="http://schemas.openxmlformats.org/drawingml/2006/table">
            <a:tbl>
              <a:tblPr/>
              <a:tblGrid>
                <a:gridCol w="1675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8495 · RL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R$ 4.497.155,32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R$ 419.034,45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8481 · RT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R$ 1.565.168,52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R$ 498.815,47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Shape 33">
            <a:extLst>
              <a:ext uri="{FF2B5EF4-FFF2-40B4-BE49-F238E27FC236}">
                <a16:creationId xmlns:a16="http://schemas.microsoft.com/office/drawing/2014/main" id="{6484448D-ACE5-9E85-178B-27C1BFD693B6}"/>
              </a:ext>
            </a:extLst>
          </p:cNvPr>
          <p:cNvSpPr/>
          <p:nvPr/>
        </p:nvSpPr>
        <p:spPr>
          <a:xfrm>
            <a:off x="6644640" y="5440680"/>
            <a:ext cx="4928616" cy="457200"/>
          </a:xfrm>
          <a:prstGeom prst="roundRect">
            <a:avLst>
              <a:gd name="adj" fmla="val 12000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2054C7"/>
            </a:solidFill>
            <a:prstDash val="solid"/>
          </a:ln>
        </p:spPr>
        <p:txBody>
          <a:bodyPr/>
          <a:lstStyle/>
          <a:p>
            <a:endParaRPr lang="pt-BR" sz="2800"/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8EEF0386-0417-A659-222E-48F9D1BDE5A3}"/>
              </a:ext>
            </a:extLst>
          </p:cNvPr>
          <p:cNvSpPr/>
          <p:nvPr/>
        </p:nvSpPr>
        <p:spPr>
          <a:xfrm>
            <a:off x="6644640" y="5440680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R$ 6.062.323,84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99067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080E-A34E-58DB-5E1F-EDDA25EF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0941BA71-0E6C-14B6-F6D0-38881DDCC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Comunicação/Automação</a:t>
            </a:r>
            <a:br>
              <a:rPr lang="pt-BR" dirty="0"/>
            </a:br>
            <a:r>
              <a:rPr lang="pt-BR" sz="2000" dirty="0"/>
              <a:t>Frente</a:t>
            </a:r>
            <a:endParaRPr lang="pt-BR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57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5765-822C-FEE0-A549-0EB17456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31420FF-34C2-2B72-FC45-47A51618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Projetos/Obras</a:t>
            </a:r>
            <a:br>
              <a:rPr lang="pt-BR" dirty="0"/>
            </a:br>
            <a:r>
              <a:rPr lang="pt-BR" sz="2000" dirty="0"/>
              <a:t>Frente</a:t>
            </a:r>
            <a:endParaRPr lang="pt-BR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06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9216-6B16-6070-33EB-798F5AF1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1A4DA07A-AD4F-3B5F-E115-C53D8A58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Execução</a:t>
            </a:r>
            <a:br>
              <a:rPr lang="pt-BR" dirty="0"/>
            </a:br>
            <a:r>
              <a:rPr lang="pt-BR" sz="2000" dirty="0"/>
              <a:t>Frente</a:t>
            </a:r>
            <a:endParaRPr lang="pt-BR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3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3853-2437-A616-8434-FEF68C82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D7F7E3D-50CB-720A-1F57-4BD8CB54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46" y="89525"/>
            <a:ext cx="10515599" cy="1027138"/>
          </a:xfrm>
        </p:spPr>
        <p:txBody>
          <a:bodyPr/>
          <a:lstStyle/>
          <a:p>
            <a:r>
              <a:rPr lang="pt-BR" dirty="0"/>
              <a:t>Inovação</a:t>
            </a:r>
            <a:br>
              <a:rPr lang="pt-BR" dirty="0"/>
            </a:br>
            <a:r>
              <a:rPr lang="pt-BR" sz="2000" dirty="0"/>
              <a:t>Frente</a:t>
            </a:r>
            <a:endParaRPr lang="pt-BR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27BCD9E-7B33-1202-C351-2454828ECCD9}"/>
              </a:ext>
            </a:extLst>
          </p:cNvPr>
          <p:cNvSpPr txBox="1"/>
          <p:nvPr/>
        </p:nvSpPr>
        <p:spPr>
          <a:xfrm>
            <a:off x="0" y="1254282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600">
                <a:solidFill>
                  <a:srgbClr val="244457"/>
                </a:solidFill>
                <a:latin typeface="Trebuchet MS"/>
              </a:rPr>
              <a:t>OBRIGADO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66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C7C468-2B2D-66CD-A2C4-F73757A3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, Gráfico de explosão solar&#10;&#10;Descrição gerada automaticamente">
            <a:extLst>
              <a:ext uri="{FF2B5EF4-FFF2-40B4-BE49-F238E27FC236}">
                <a16:creationId xmlns:a16="http://schemas.microsoft.com/office/drawing/2014/main" id="{0AF00295-BE9A-E614-DBB8-7C1577A9A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762" y="3286431"/>
            <a:ext cx="654293" cy="643567"/>
          </a:xfrm>
          <a:prstGeom prst="rect">
            <a:avLst/>
          </a:prstGeom>
        </p:spPr>
      </p:pic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F1D054CF-0463-7A9B-69A4-1E99200F6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793" y="3286431"/>
            <a:ext cx="654293" cy="643567"/>
          </a:xfrm>
          <a:prstGeom prst="rect">
            <a:avLst/>
          </a:prstGeom>
        </p:spPr>
      </p:pic>
      <p:pic>
        <p:nvPicPr>
          <p:cNvPr id="8" name="Imagem 7" descr="Desenho de uma placa&#10;&#10;Descrição gerada automaticamente com confiança média">
            <a:extLst>
              <a:ext uri="{FF2B5EF4-FFF2-40B4-BE49-F238E27FC236}">
                <a16:creationId xmlns:a16="http://schemas.microsoft.com/office/drawing/2014/main" id="{D2F25E77-C9D5-9443-93A6-D2863609F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24" y="3286431"/>
            <a:ext cx="654293" cy="643567"/>
          </a:xfrm>
          <a:prstGeom prst="rect">
            <a:avLst/>
          </a:prstGeom>
        </p:spPr>
      </p:pic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39DA0C0E-5B15-B844-EDFF-2417E89AB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55" y="3286431"/>
            <a:ext cx="654293" cy="643567"/>
          </a:xfrm>
          <a:prstGeom prst="rect">
            <a:avLst/>
          </a:prstGeom>
        </p:spPr>
      </p:pic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B9F23D8C-144B-5F0F-93A8-94D7C9528A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886" y="3286431"/>
            <a:ext cx="654293" cy="643567"/>
          </a:xfrm>
          <a:prstGeom prst="rect">
            <a:avLst/>
          </a:prstGeom>
        </p:spPr>
      </p:pic>
      <p:pic>
        <p:nvPicPr>
          <p:cNvPr id="13" name="Imagem 12" descr="Desenho de um círculo&#10;&#10;Descrição gerada automaticamente com confiança média">
            <a:extLst>
              <a:ext uri="{FF2B5EF4-FFF2-40B4-BE49-F238E27FC236}">
                <a16:creationId xmlns:a16="http://schemas.microsoft.com/office/drawing/2014/main" id="{03C15874-C030-C29D-269A-21EF70277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17" y="3286431"/>
            <a:ext cx="654293" cy="643567"/>
          </a:xfrm>
          <a:prstGeom prst="rect">
            <a:avLst/>
          </a:prstGeom>
        </p:spPr>
      </p:pic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A8FC6696-A2CA-D22C-ED10-0F126C5960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945" y="3286431"/>
            <a:ext cx="654293" cy="643567"/>
          </a:xfrm>
          <a:prstGeom prst="rect">
            <a:avLst/>
          </a:prstGeom>
        </p:spPr>
      </p:pic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D18D8256-9973-4D9B-B475-5E69D9D29B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16" y="4736874"/>
            <a:ext cx="682831" cy="682831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4EA0E4D9-980A-008A-2CE8-0BC8341BC2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056" y="4736874"/>
            <a:ext cx="682831" cy="682831"/>
          </a:xfrm>
          <a:prstGeom prst="rect">
            <a:avLst/>
          </a:prstGeom>
        </p:spPr>
      </p:pic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52E41AA9-E0FE-9E53-4BE8-9F768FE67A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96" y="4736874"/>
            <a:ext cx="682831" cy="682831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29FECF3E-E11D-45AC-DDB4-5506919899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736" y="4736874"/>
            <a:ext cx="682831" cy="682831"/>
          </a:xfrm>
          <a:prstGeom prst="rect">
            <a:avLst/>
          </a:prstGeom>
        </p:spPr>
      </p:pic>
      <p:pic>
        <p:nvPicPr>
          <p:cNvPr id="19" name="Imagem 18" descr="Ícone&#10;&#10;Descrição gerada automaticamente">
            <a:extLst>
              <a:ext uri="{FF2B5EF4-FFF2-40B4-BE49-F238E27FC236}">
                <a16:creationId xmlns:a16="http://schemas.microsoft.com/office/drawing/2014/main" id="{D2531685-6B54-A9D4-B8F2-C94B23F2B9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76" y="4736874"/>
            <a:ext cx="682831" cy="682831"/>
          </a:xfrm>
          <a:prstGeom prst="rect">
            <a:avLst/>
          </a:prstGeom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68A4F76C-0B2E-1A03-35AC-CF31D26012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416" y="4736874"/>
            <a:ext cx="682831" cy="682831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3D453C29-8EDB-9668-255D-3D20C969D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756" y="4736874"/>
            <a:ext cx="682831" cy="682831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92D5345-E286-A3A6-C4CC-BC35BBA41A5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96" y="4736874"/>
            <a:ext cx="682831" cy="682831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0459D4C0-72BC-ABC8-F493-19CACDE698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436" y="4736874"/>
            <a:ext cx="682831" cy="682831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2419B738-CA08-7A0D-323B-6650227B1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776" y="4736874"/>
            <a:ext cx="682831" cy="68283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C36B5A7B-59EB-FA89-DBA7-CA902169B3D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116" y="4736874"/>
            <a:ext cx="682831" cy="682831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5B41D65B-2454-C5A2-43F8-A6AF5078060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454" y="4736874"/>
            <a:ext cx="682831" cy="682831"/>
          </a:xfrm>
          <a:prstGeom prst="rect">
            <a:avLst/>
          </a:prstGeom>
        </p:spPr>
      </p:pic>
      <p:sp>
        <p:nvSpPr>
          <p:cNvPr id="27" name="Título 8">
            <a:extLst>
              <a:ext uri="{FF2B5EF4-FFF2-40B4-BE49-F238E27FC236}">
                <a16:creationId xmlns:a16="http://schemas.microsoft.com/office/drawing/2014/main" id="{744FC86E-E0F5-77E1-CB99-3B57F7AE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</p:spPr>
        <p:txBody>
          <a:bodyPr/>
          <a:lstStyle/>
          <a:p>
            <a:r>
              <a:rPr lang="pt-BR" b="1">
                <a:latin typeface="DM Sans" pitchFamily="2" charset="0"/>
              </a:rPr>
              <a:t>Logos e ícones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EBDDFB-B6FD-E684-7F71-EC52EFF442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21570" r="6623" b="23320"/>
          <a:stretch/>
        </p:blipFill>
        <p:spPr>
          <a:xfrm>
            <a:off x="2589628" y="1859281"/>
            <a:ext cx="3387238" cy="68283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3E631F-D4F3-3B5E-8BCF-8877ADA78F0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7409" y="1925508"/>
            <a:ext cx="3254964" cy="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62608"/>
      </p:ext>
    </p:extLst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9255e2-90d0-4a46-ab3f-eea6f35cc519">
      <Terms xmlns="http://schemas.microsoft.com/office/infopath/2007/PartnerControls"/>
    </lcf76f155ced4ddcb4097134ff3c332f>
    <TaxCatchAll xmlns="8dab9f8b-0981-41ab-93fa-5da68eab140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AD901AEA602649A8D27A3BB03C6CD5" ma:contentTypeVersion="10" ma:contentTypeDescription="Crie um novo documento." ma:contentTypeScope="" ma:versionID="9d08321254ebc2c6f6c3aae2ae0ecdb9">
  <xsd:schema xmlns:xsd="http://www.w3.org/2001/XMLSchema" xmlns:xs="http://www.w3.org/2001/XMLSchema" xmlns:p="http://schemas.microsoft.com/office/2006/metadata/properties" xmlns:ns2="ed9255e2-90d0-4a46-ab3f-eea6f35cc519" xmlns:ns3="8dab9f8b-0981-41ab-93fa-5da68eab140e" targetNamespace="http://schemas.microsoft.com/office/2006/metadata/properties" ma:root="true" ma:fieldsID="1e5de59ac97bf74f13b99eee3accb474" ns2:_="" ns3:_="">
    <xsd:import namespace="ed9255e2-90d0-4a46-ab3f-eea6f35cc519"/>
    <xsd:import namespace="8dab9f8b-0981-41ab-93fa-5da68eab14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9255e2-90d0-4a46-ab3f-eea6f35cc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ab9f8b-0981-41ab-93fa-5da68eab140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8660e25-0189-46c5-ba0e-47d1dfb15384}" ma:internalName="TaxCatchAll" ma:showField="CatchAllData" ma:web="8dab9f8b-0981-41ab-93fa-5da68eab14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C406E-DE5F-4BDE-BEA4-9EAF179BD1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31BD80-0C3E-482A-B32C-B4BB4BF623FE}">
  <ds:schemaRefs>
    <ds:schemaRef ds:uri="http://schemas.openxmlformats.org/package/2006/metadata/core-properties"/>
    <ds:schemaRef ds:uri="http://purl.org/dc/elements/1.1/"/>
    <ds:schemaRef ds:uri="ed9255e2-90d0-4a46-ab3f-eea6f35cc519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8dab9f8b-0981-41ab-93fa-5da68eab140e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9786C0C-FEEF-47B9-86AB-EE75DA39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9255e2-90d0-4a46-ab3f-eea6f35cc519"/>
    <ds:schemaRef ds:uri="8dab9f8b-0981-41ab-93fa-5da68eab14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294</Words>
  <Application>Microsoft Office PowerPoint</Application>
  <PresentationFormat>Widescreen</PresentationFormat>
  <Paragraphs>101</Paragraphs>
  <Slides>10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DM Sans</vt:lpstr>
      <vt:lpstr>Trebuchet MS</vt:lpstr>
      <vt:lpstr>PPT Editável - Energisa 120 Anos</vt:lpstr>
      <vt:lpstr>Apresentação do PowerPoint</vt:lpstr>
      <vt:lpstr>Gestão de Equipamentos  Frente</vt:lpstr>
      <vt:lpstr>Manutenção Frente – Orçamento</vt:lpstr>
      <vt:lpstr>Manutenção Frente - Orçamento</vt:lpstr>
      <vt:lpstr>Comunicação/Automação Frente</vt:lpstr>
      <vt:lpstr>Projetos/Obras Frente</vt:lpstr>
      <vt:lpstr>Execução Frente</vt:lpstr>
      <vt:lpstr>Inovação Frente</vt:lpstr>
      <vt:lpstr>Apresentação do PowerPoint</vt:lpstr>
      <vt:lpstr>Logos e ícones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DPI PUBLICIDADE E EVENTOS</dc:creator>
  <cp:lastModifiedBy>Joao Antonio Lagares Milhomem de Souza</cp:lastModifiedBy>
  <cp:revision>7</cp:revision>
  <dcterms:created xsi:type="dcterms:W3CDTF">2025-01-22T19:35:09Z</dcterms:created>
  <dcterms:modified xsi:type="dcterms:W3CDTF">2026-08-28T19:01:49Z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0x01010093AD901AEA602649A8D27A3BB03C6CD5</vt:lpwstr>
  </property>
  <property fmtid="{D5CDD505-2E9C-101B-9397-08002B2CF9AE}" pid="3" name="MediaServiceImageTags">
    <vt:lpwstr/>
  </property>
</Properties>
</file>